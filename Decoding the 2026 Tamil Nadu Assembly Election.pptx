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86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kern="0" spc="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ASSEMBLY ELECTION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640080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Fact-Based Data Analysis for AtliQ Media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606040" cy="137160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9626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73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Singh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2880360"/>
            <a:ext cx="2606040" cy="137160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626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3273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880360"/>
            <a:ext cx="2606040" cy="137160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96265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32735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Commission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ECI Data  •  2021 vs 2026 Tamil Nadu Assembly Election Analysis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19"/>
    </mc:Choice>
    <mc:Fallback xmlns="">
      <p:transition spd="slow" advTm="231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STORY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93392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19933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1975104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Constituencies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1993392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207008"/>
            <a:ext cx="19933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50592" y="1975104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Analyzed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1161288"/>
            <a:ext cx="1993392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207008"/>
            <a:ext cx="19933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26864" y="1975104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in 2026 Election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03136" y="1143000"/>
            <a:ext cx="1993392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207008"/>
            <a:ext cx="19933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803136" y="1975104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Story Dimensions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Stories Explored: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10128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649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8912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40965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votes go?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debuted with 34.92% vote share.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3101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310128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3649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364992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Seat Shift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64992" y="40965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seats shift across regions?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lost 74 seats; TVK won 108.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331012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310128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36499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91072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Flip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40965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constituencies changed hands?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of seats flipped winners.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Election Commission of India  |  Comparison: 2021 vs 2026 Tamil Nadu Assembly Elections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91"/>
    </mc:Choice>
    <mc:Fallback xmlns="">
      <p:transition spd="slow" advTm="45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22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VOTES GO?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Analysis  •  2021 vs 2026  •  Party-wise Breakdown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93"/>
    </mc:Choice>
    <mc:Fallback xmlns="">
      <p:transition spd="slow" advTm="2589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1: WHERE DID THE VOTES GO?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69848"/>
            <a:ext cx="859536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645152"/>
            <a:ext cx="86868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63440"/>
            <a:ext cx="8503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= Percentage Points  •  Source: Tamil Nadu Assembly Election Data (2021 &amp; 2026)  •  TVK: New entrant 2026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57"/>
    </mc:Choice>
    <mc:Fallback xmlns="">
      <p:transition spd="slow" advTm="7185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02996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Debut Vote Share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gainer — new entrant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202996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−13.51pp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32304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Vote Drop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32304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37.70% → 24.19%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78992"/>
            <a:ext cx="2029968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−12.08pp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08576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Vote Drop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08576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33.29% → 21.21%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078992"/>
            <a:ext cx="202996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84848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Chennai Metro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regional performance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651760"/>
            <a:ext cx="86319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65176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883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Emerges as Major Force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2688336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debuted with 34.92% statewide, drawing 44% votes from DMK, 35% from AIADMK, and 21% new voters.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218688"/>
            <a:ext cx="86319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218688"/>
            <a:ext cx="64008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552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Loses One-Third of Vote Base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3255264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fell from 37.70% to 24.19% — a 13.51 percentage point decline across all six regions.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785616"/>
            <a:ext cx="86319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785616"/>
            <a:ext cx="64008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822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Also Declines Sharply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3822192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dropped from 33.29% to 21.21% — losing ground in every region, particularly Chennai Metro.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4352544"/>
            <a:ext cx="86319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352544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389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Metro: TVK's Stronghold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017520" y="4389120"/>
            <a:ext cx="5806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achieved 45.34% in Chennai Metro, with gains from both DMK (28.34%) and AIADMK (26.32%) voters.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49"/>
    </mc:Choice>
    <mc:Fallback xmlns="">
      <p:transition spd="slow" advTm="3974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2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SEATS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ACROSS REGIONS?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Seat Analysis  •  Six Regions  •  DMK vs TVK Performance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64"/>
    </mc:Choice>
    <mc:Fallback xmlns="">
      <p:transition spd="slow" advTm="2066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2: HOW DID SEATS SHIFT ACROSS REGIONS?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69848"/>
            <a:ext cx="859536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645152"/>
            <a:ext cx="86868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63440"/>
            <a:ext cx="8503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Analysis based on Tamil Nadu Assembly Election Data (2021 &amp; 2026)  •  Total Seats: 234 (both years)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409"/>
    </mc:Choice>
    <mc:Fallback xmlns="">
      <p:transition spd="slow" advTm="5740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SHIFT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02996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Seat Loss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→ 59 seats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78992"/>
            <a:ext cx="202996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32304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 (Debut)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32304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debut win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78992"/>
            <a:ext cx="202996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08576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08576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DMK loss region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1078992"/>
            <a:ext cx="2029968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078992"/>
            <a:ext cx="202996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17043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784848" y="181051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Chennai Metro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2157984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TVK region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651760"/>
            <a:ext cx="8631936" cy="347472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0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87568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2026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60920" y="2679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Swing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035808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072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3072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0" y="3072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87568" y="3072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60920" y="30723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374136"/>
            <a:ext cx="8631936" cy="310896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31720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23360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87568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60920" y="3410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712464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33172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2336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87568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6092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6032" y="4050792"/>
            <a:ext cx="8631936" cy="310896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087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331720" y="4087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023360" y="4087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87568" y="4087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60920" y="4087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4389120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425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331720" y="4425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023360" y="4425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687568" y="4425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60920" y="4425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6032" y="4727448"/>
            <a:ext cx="8631936" cy="310896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33172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02336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687568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36092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79"/>
    </mc:Choice>
    <mc:Fallback xmlns="">
      <p:transition spd="slow" advTm="5067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CONSTITUENCIES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HANDS?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4930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Flip Analysis  •  Regional Flip Rates  •  Winner Patterns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69"/>
    </mc:Choice>
    <mc:Fallback xmlns="">
      <p:transition spd="slow" advTm="1756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3: HOW MANY CONSTITUENCIES CHANGED HANDS?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8686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69848"/>
            <a:ext cx="859536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645152"/>
            <a:ext cx="86868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63440"/>
            <a:ext cx="8503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Tamil Nadu Assembly Election Data (2021 &amp; 2026)  •  Total Constituencies: 233 (one N/A excluded)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44"/>
    </mc:Choice>
    <mc:Fallback xmlns="">
      <p:transition spd="slow" advTm="5904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ANALYSIS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834640" cy="1920240"/>
          </a:xfrm>
          <a:prstGeom prst="rect">
            <a:avLst/>
          </a:prstGeom>
          <a:solidFill>
            <a:srgbClr val="0F2044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52144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56032" y="2029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 Changed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(212 of 233)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3090672"/>
            <a:ext cx="2834640" cy="914400"/>
          </a:xfrm>
          <a:prstGeom prst="rect">
            <a:avLst/>
          </a:prstGeom>
          <a:solidFill>
            <a:srgbClr val="1A3260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31455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" y="35844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Gaining Party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078992"/>
            <a:ext cx="5550408" cy="347472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50992" y="1115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Seats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78040" y="1115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55504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4996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50992" y="14996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78040" y="1499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810512"/>
            <a:ext cx="5550408" cy="3200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8470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50992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804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157984"/>
            <a:ext cx="55504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50992" y="2194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7804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72.97%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2505456"/>
            <a:ext cx="5550408" cy="3200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542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50992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38/58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78040" y="2542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65.52%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852928"/>
            <a:ext cx="55504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8895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50992" y="28895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26/41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78040" y="28895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200400"/>
            <a:ext cx="5550408" cy="320040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3236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3236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7804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584448"/>
            <a:ext cx="55504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37560" y="3584448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3611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 — Most Volatile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3803904"/>
            <a:ext cx="5330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93.75% flip rate — extreme political swing. DMK lost 27 seats here.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4078224"/>
            <a:ext cx="55504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337560" y="4078224"/>
            <a:ext cx="64008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93008" y="41056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Region — Most Stable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93008" y="4297680"/>
            <a:ext cx="5330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flip rate at 45.45% — comparatively stable despite overall shifts.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37560" y="4572000"/>
            <a:ext cx="55504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37560" y="4572000"/>
            <a:ext cx="64008" cy="43891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93008" y="45994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 Constituencies Retained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93008" y="4791456"/>
            <a:ext cx="5330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9.01% constituencies retained the same winning party across both elections.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47"/>
    </mc:Choice>
    <mc:Fallback xmlns="">
      <p:transition spd="slow" advTm="4444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Tamil Nadu Assembly Election — Complete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73152" cy="1005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35024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33502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Political Realignment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1907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recorded the biggest political shift in recent Tamil Nadu history — vote shares, seats, and constituencies all transformed simultaneously.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1005840"/>
          </a:xfrm>
          <a:prstGeom prst="rect">
            <a:avLst/>
          </a:prstGeom>
          <a:solidFill>
            <a:srgbClr val="1A32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59152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32304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4323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— A Historic Debut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1635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won 108 seats and 34.92% vote share in its very first election — an unprecedented result for a new political party.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8229600" cy="1005840"/>
          </a:xfrm>
          <a:prstGeom prst="rect">
            <a:avLst/>
          </a:prstGeom>
          <a:solidFill>
            <a:srgbClr val="1A3260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56432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29584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5295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&amp; AIADMK Parallel Decline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91363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established parties lost heavily across all six regions — DMK by 74 seats and AIADMK significant vote share, marking a historic parallel decline.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share, seats, and constituencies all shifted simultaneously — a complete political transformation of Tamil Nadu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50"/>
    </mc:Choice>
    <mc:Fallback xmlns="">
      <p:transition spd="slow" advTm="5185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692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578608"/>
            <a:ext cx="1920240" cy="155448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51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Singh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2578608"/>
            <a:ext cx="1920240" cy="155448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651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032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578608"/>
            <a:ext cx="1920240" cy="155448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651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marL="0" indent="0">
              <a:buNone/>
            </a:pPr>
            <a:r>
              <a:rPr lang="en-US" sz="8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Commission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 (ECI)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578608"/>
            <a:ext cx="1920240" cy="1554480"/>
          </a:xfrm>
          <a:prstGeom prst="rect">
            <a:avLst/>
          </a:prstGeom>
          <a:solidFill>
            <a:srgbClr val="1A3260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651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 Resume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Challenge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822960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5254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Analysis is based only on publicly available ECI election result data.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exit polls, surveys, or demographic data were used.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5"/>
    </mc:Choice>
    <mc:Fallback xmlns="">
      <p:transition spd="slow" advTm="212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814</Words>
  <Application>Microsoft Office PowerPoint</Application>
  <PresentationFormat>On-screen Show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Assembly Election</dc:title>
  <dc:subject>PptxGenJS Presentation</dc:subject>
  <dc:creator>PptxGenJS</dc:creator>
  <cp:lastModifiedBy>User</cp:lastModifiedBy>
  <cp:revision>4</cp:revision>
  <dcterms:created xsi:type="dcterms:W3CDTF">2026-05-29T08:28:21Z</dcterms:created>
  <dcterms:modified xsi:type="dcterms:W3CDTF">2026-05-30T15:18:30Z</dcterms:modified>
</cp:coreProperties>
</file>